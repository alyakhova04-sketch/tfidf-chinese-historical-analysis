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24384000" cy="13716000"/>
  <p:notesSz cx="13716000" cy="2438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7780000" y="6350000"/>
            <a:ext cx="4826000" cy="4826000"/>
          </a:xfrm>
          <a:prstGeom prst="ellipse">
            <a:avLst/>
          </a:prstGeom>
          <a:solidFill>
            <a:srgbClr val="10B981">
              <a:alpha val="9412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9685000" y="8255000"/>
            <a:ext cx="3302000" cy="3302000"/>
          </a:xfrm>
          <a:prstGeom prst="ellipse">
            <a:avLst/>
          </a:prstGeom>
          <a:solidFill>
            <a:srgbClr val="1A1A1A">
              <a:alpha val="7059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6510000" y="9525000"/>
            <a:ext cx="6350000" cy="38100"/>
          </a:xfrm>
          <a:prstGeom prst="rect">
            <a:avLst/>
          </a:prstGeom>
          <a:solidFill>
            <a:srgbClr val="10B981">
              <a:alpha val="25098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5240000" y="7620000"/>
            <a:ext cx="38100" cy="3810000"/>
          </a:xfrm>
          <a:prstGeom prst="rect">
            <a:avLst/>
          </a:prstGeom>
          <a:solidFill>
            <a:srgbClr val="1A1A1A">
              <a:alpha val="12549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270000" y="3810000"/>
            <a:ext cx="21844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0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TF-IDF анализ китайских</a:t>
            </a:r>
            <a:endParaRPr lang="en-US" sz="8000" dirty="0"/>
          </a:p>
          <a:p>
            <a:pPr algn="ctr">
              <a:lnSpc>
                <a:spcPct val="120000"/>
              </a:lnSpc>
            </a:pPr>
            <a:r>
              <a:rPr lang="en-US" sz="80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исторических текстов</a:t>
            </a:r>
            <a:endParaRPr lang="en-US" sz="8000" dirty="0"/>
          </a:p>
        </p:txBody>
      </p:sp>
      <p:sp>
        <p:nvSpPr>
          <p:cNvPr id="7" name="Text 5"/>
          <p:cNvSpPr/>
          <p:nvPr/>
        </p:nvSpPr>
        <p:spPr>
          <a:xfrm>
            <a:off x="1270000" y="6604000"/>
            <a:ext cx="2184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3200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Сравнительное исследование ключевых понятий организаций «Красные копья» и «Цинбан»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1270000" y="8255000"/>
            <a:ext cx="21844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ts val="3200"/>
              </a:lnSpc>
            </a:pPr>
            <a:r>
              <a:rPr lang="en-US" sz="22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Проект «Цифровые технологии как инструмент модернизации исследований иероглифических текстов»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270000" y="9144000"/>
            <a:ext cx="21844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ts val="2800"/>
              </a:lnSpc>
            </a:pPr>
            <a:r>
              <a:rPr lang="en-US" sz="20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Исследователь: Ляхова А.А., НИУ ВШЭ  |  Руководитель: Иванченко Н.В.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 rot="16200000">
            <a:off x="0" y="10541000"/>
            <a:ext cx="33274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ts val="2800"/>
              </a:lnSpc>
            </a:pPr>
            <a:r>
              <a:rPr lang="en-US" sz="2000" spc="100" kern="0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TF-IDF RESEARCH</a:t>
            </a:r>
            <a:endParaRPr lang="en-US" sz="20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9685000" y="7620000"/>
            <a:ext cx="3810000" cy="3810000"/>
          </a:xfrm>
          <a:prstGeom prst="ellipse">
            <a:avLst/>
          </a:prstGeom>
          <a:solidFill>
            <a:srgbClr val="10B981">
              <a:alpha val="6275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270000" y="2286000"/>
            <a:ext cx="11049000" cy="25400"/>
          </a:xfrm>
          <a:prstGeom prst="rect">
            <a:avLst/>
          </a:prstGeom>
          <a:solidFill>
            <a:srgbClr val="10B981">
              <a:alpha val="18824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1270000" y="1016000"/>
            <a:ext cx="15240000" cy="1143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60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Цель и задачи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1270000" y="2794000"/>
            <a:ext cx="508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3200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Цель исследования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270000" y="3556000"/>
            <a:ext cx="21844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22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С помощью </a:t>
            </a:r>
            <a:pPr algn="l">
              <a:lnSpc>
                <a:spcPct val="150000"/>
              </a:lnSpc>
            </a:pPr>
            <a:r>
              <a:rPr lang="en-US" sz="22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TF-IDF анализа</a:t>
            </a:r>
            <a:pPr algn="l">
              <a:lnSpc>
                <a:spcPct val="150000"/>
              </a:lnSpc>
            </a:pPr>
            <a:r>
              <a:rPr lang="en-US" sz="22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выявить и сравнить ключевые слова и слова-маркеры, характеризующие две вооружённые организации первой половины XX века — </a:t>
            </a:r>
            <a:pPr algn="l">
              <a:lnSpc>
                <a:spcPct val="150000"/>
              </a:lnSpc>
            </a:pPr>
            <a:r>
              <a:rPr lang="en-US" sz="2200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«Красные копья»</a:t>
            </a:r>
            <a:pPr algn="l">
              <a:lnSpc>
                <a:spcPct val="150000"/>
              </a:lnSpc>
            </a:pPr>
            <a:r>
              <a:rPr lang="en-US" sz="22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и </a:t>
            </a:r>
            <a:pPr algn="l">
              <a:lnSpc>
                <a:spcPct val="150000"/>
              </a:lnSpc>
            </a:pPr>
            <a:r>
              <a:rPr lang="en-US" sz="2200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«Цинбан»</a:t>
            </a:r>
            <a:pPr algn="l">
              <a:lnSpc>
                <a:spcPct val="150000"/>
              </a:lnSpc>
            </a:pPr>
            <a:r>
              <a:rPr lang="en-US" sz="22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270000" y="5207000"/>
            <a:ext cx="381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3200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Задачи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1270000" y="6096000"/>
            <a:ext cx="889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ts val="5000"/>
              </a:lnSpc>
            </a:pPr>
            <a:r>
              <a:rPr lang="en-US" sz="3600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2159000" y="6096000"/>
            <a:ext cx="889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22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Собрать и подготовить корпус китайских исторических текстов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270000" y="7366000"/>
            <a:ext cx="889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ts val="5000"/>
              </a:lnSpc>
            </a:pPr>
            <a:r>
              <a:rPr lang="en-US" sz="3600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2159000" y="7366000"/>
            <a:ext cx="889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22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Провести сегментацию, очистку и удаление стоп-слов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270000" y="8636000"/>
            <a:ext cx="889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ts val="5000"/>
              </a:lnSpc>
            </a:pPr>
            <a:r>
              <a:rPr lang="en-US" sz="3600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2159000" y="8636000"/>
            <a:ext cx="889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22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Применить TF-IDF векторизацию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2700000" y="6096000"/>
            <a:ext cx="889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ts val="5000"/>
              </a:lnSpc>
            </a:pPr>
            <a:r>
              <a:rPr lang="en-US" sz="3600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13589000" y="6096000"/>
            <a:ext cx="9525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22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Выделить топ-20 ключевых слов для каждой организации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2700000" y="7366000"/>
            <a:ext cx="889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ts val="5000"/>
              </a:lnSpc>
            </a:pPr>
            <a:r>
              <a:rPr lang="en-US" sz="3600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13589000" y="7366000"/>
            <a:ext cx="9525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22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Вычислить слова-маркеры (термины с максимальной разницей весов)</a:t>
            </a:r>
            <a:endParaRPr lang="en-US" sz="22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320000" y="1270000"/>
            <a:ext cx="3175000" cy="3175000"/>
          </a:xfrm>
          <a:prstGeom prst="ellipse">
            <a:avLst/>
          </a:prstGeom>
          <a:solidFill>
            <a:srgbClr val="10B981">
              <a:alpha val="6275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270000" y="2286000"/>
            <a:ext cx="11049000" cy="25400"/>
          </a:xfrm>
          <a:prstGeom prst="rect">
            <a:avLst/>
          </a:prstGeom>
          <a:solidFill>
            <a:srgbClr val="10B981">
              <a:alpha val="18824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1270000" y="1016000"/>
            <a:ext cx="15240000" cy="1143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60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Материалы исследования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1270000" y="2794000"/>
            <a:ext cx="1016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3200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Источник по </a:t>
            </a:r>
            <a:pPr algn="l">
              <a:lnSpc>
                <a:spcPct val="130000"/>
              </a:lnSpc>
            </a:pPr>
            <a:r>
              <a:rPr lang="en-US" sz="3200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«Красным копьям»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270000" y="3683000"/>
            <a:ext cx="1016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ts val="3400"/>
              </a:lnSpc>
            </a:pPr>
            <a:r>
              <a:rPr lang="en-US" sz="24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近代山东民团研究 (1911–1930)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270000" y="4445000"/>
            <a:ext cx="10160000" cy="279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22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Объём: ≈13 тыс. иероглифов после очистки</a:t>
            </a:r>
            <a:endParaRPr lang="en-US" sz="2200" dirty="0"/>
          </a:p>
          <a:p>
            <a:pPr algn="l">
              <a:lnSpc>
                <a:spcPct val="150000"/>
              </a:lnSpc>
            </a:pPr>
            <a:r>
              <a:rPr lang="en-US" sz="22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Тематически однородный текст</a:t>
            </a:r>
            <a:endParaRPr lang="en-US" sz="2200" dirty="0"/>
          </a:p>
          <a:p>
            <a:pPr algn="l">
              <a:lnSpc>
                <a:spcPct val="150000"/>
              </a:lnSpc>
            </a:pPr>
            <a:r>
              <a:rPr lang="en-US" sz="22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Специфическая лексика: 民团, 土匪, 自卫, 山东</a:t>
            </a:r>
            <a:endParaRPr lang="en-US" sz="2200" dirty="0"/>
          </a:p>
          <a:p>
            <a:pPr algn="l">
              <a:lnSpc>
                <a:spcPct val="150000"/>
              </a:lnSpc>
            </a:pPr>
            <a:r>
              <a:rPr lang="en-US" sz="22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Хорошо подошёл для TF-IDF анализа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12192000" y="2794000"/>
            <a:ext cx="25400" cy="6350000"/>
          </a:xfrm>
          <a:prstGeom prst="rect">
            <a:avLst/>
          </a:prstGeom>
          <a:solidFill>
            <a:srgbClr val="10B981">
              <a:alpha val="1451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12954000" y="2794000"/>
            <a:ext cx="1016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3200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Источник по </a:t>
            </a:r>
            <a:pPr algn="l">
              <a:lnSpc>
                <a:spcPct val="130000"/>
              </a:lnSpc>
            </a:pPr>
            <a:r>
              <a:rPr lang="en-US" sz="3200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«Цинбан»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12954000" y="3683000"/>
            <a:ext cx="1016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ts val="3400"/>
              </a:lnSpc>
            </a:pPr>
            <a:r>
              <a:rPr lang="en-US" sz="24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青帮大字张啸林被杀之谜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2954000" y="4445000"/>
            <a:ext cx="10160000" cy="279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22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Объём: ≈3 тыс. иероглифов</a:t>
            </a:r>
            <a:endParaRPr lang="en-US" sz="2200" dirty="0"/>
          </a:p>
          <a:p>
            <a:pPr algn="l">
              <a:lnSpc>
                <a:spcPct val="150000"/>
              </a:lnSpc>
            </a:pPr>
            <a:r>
              <a:rPr lang="en-US" sz="22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Содержит постороннее эссе о пользе чтения</a:t>
            </a:r>
            <a:endParaRPr lang="en-US" sz="2200" dirty="0"/>
          </a:p>
          <a:p>
            <a:pPr algn="l">
              <a:lnSpc>
                <a:spcPct val="150000"/>
              </a:lnSpc>
            </a:pPr>
            <a:r>
              <a:rPr lang="en-US" sz="22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Неподходящий для TF-IDF</a:t>
            </a:r>
            <a:endParaRPr lang="en-US" sz="2200" dirty="0"/>
          </a:p>
          <a:p>
            <a:pPr algn="l">
              <a:lnSpc>
                <a:spcPct val="150000"/>
              </a:lnSpc>
            </a:pPr>
            <a:r>
              <a:rPr lang="en-US" sz="22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Малый объём, издательские пометы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270000" y="9525000"/>
            <a:ext cx="2184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3000"/>
              </a:lnSpc>
            </a:pPr>
            <a:r>
              <a:rPr lang="en-US" sz="2000" i="1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Разница в объёме и качестве источников существенно повлияла на результаты анализа</a:t>
            </a:r>
            <a:endParaRPr lang="en-US" sz="20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9685000" y="7620000"/>
            <a:ext cx="3810000" cy="3810000"/>
          </a:xfrm>
          <a:prstGeom prst="ellipse">
            <a:avLst/>
          </a:prstGeom>
          <a:solidFill>
            <a:srgbClr val="10B981">
              <a:alpha val="6275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270000" y="2286000"/>
            <a:ext cx="11049000" cy="25400"/>
          </a:xfrm>
          <a:prstGeom prst="rect">
            <a:avLst/>
          </a:prstGeom>
          <a:solidFill>
            <a:srgbClr val="10B981">
              <a:alpha val="18824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1270000" y="1016000"/>
            <a:ext cx="15240000" cy="1143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60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Предобработка данных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1270000" y="2794000"/>
            <a:ext cx="889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ts val="5000"/>
              </a:lnSpc>
            </a:pPr>
            <a:r>
              <a:rPr lang="en-US" sz="3600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2159000" y="2794000"/>
            <a:ext cx="381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ts val="4000"/>
              </a:lnSpc>
            </a:pPr>
            <a:r>
              <a:rPr lang="en-US" sz="28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Очистка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2159000" y="3492500"/>
            <a:ext cx="889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22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Удаление неиероглифических символов (цифры, знаки препинания, латиница) с помощью регулярных выражений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270000" y="4826000"/>
            <a:ext cx="889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ts val="5000"/>
              </a:lnSpc>
            </a:pPr>
            <a:r>
              <a:rPr lang="en-US" sz="3600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2159000" y="4826000"/>
            <a:ext cx="381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ts val="4000"/>
              </a:lnSpc>
            </a:pPr>
            <a:r>
              <a:rPr lang="en-US" sz="28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Сегментация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159000" y="5524500"/>
            <a:ext cx="889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22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Разбиение сплошного текста на слова с помощью библиотеки </a:t>
            </a:r>
            <a:pPr algn="l">
              <a:lnSpc>
                <a:spcPct val="150000"/>
              </a:lnSpc>
            </a:pPr>
            <a:r>
              <a:rPr lang="en-US" sz="22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jieba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270000" y="6858000"/>
            <a:ext cx="889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ts val="5000"/>
              </a:lnSpc>
            </a:pPr>
            <a:r>
              <a:rPr lang="en-US" sz="3600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2159000" y="6858000"/>
            <a:ext cx="508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ts val="4000"/>
              </a:lnSpc>
            </a:pPr>
            <a:r>
              <a:rPr lang="en-US" sz="28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Удаление стоп-слов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2159000" y="7556500"/>
            <a:ext cx="889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22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Загрузка списка из 746 единиц с GitHub, дополнение специфическими терминами (имена авторов, издательские пометы)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2700000" y="2794000"/>
            <a:ext cx="508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3200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Пример обработки</a:t>
            </a:r>
            <a:endParaRPr lang="en-US" sz="3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2700000" y="3556000"/>
          <a:ext cx="10414000" cy="4445000"/>
        </p:xfrm>
        <a:graphic>
          <a:graphicData uri="http://schemas.openxmlformats.org/drawingml/2006/table">
            <a:tbl>
              <a:tblPr/>
              <a:tblGrid>
                <a:gridCol w="3644900"/>
                <a:gridCol w="6769100"/>
              </a:tblGrid>
              <a:tr h="88900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Этап</a:t>
                      </a:r>
                      <a:endParaRPr lang="en-US" sz="18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Текст</a:t>
                      </a:r>
                      <a:endParaRPr lang="en-US" sz="18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981"/>
                    </a:solidFill>
                  </a:tcPr>
                </a:tc>
              </a:tr>
              <a:tr h="88900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Исходный</a:t>
                      </a:r>
                      <a:endParaRPr lang="en-US" sz="18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近代山东民团研究（1911～1930）谢贵平</a:t>
                      </a:r>
                      <a:endParaRPr lang="en-US" sz="18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8900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После очистки</a:t>
                      </a:r>
                      <a:endParaRPr lang="en-US" sz="18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近代山东民团研究谢贵平</a:t>
                      </a:r>
                      <a:endParaRPr lang="en-US" sz="18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88900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Сегментация</a:t>
                      </a:r>
                      <a:endParaRPr lang="en-US" sz="18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近代 / 山东 / 民团 / 研究 / 谢贵平</a:t>
                      </a:r>
                      <a:endParaRPr lang="en-US" sz="18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8900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Стоп-слова</a:t>
                      </a:r>
                      <a:endParaRPr lang="en-US" sz="18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山东 / 民团</a:t>
                      </a:r>
                      <a:endParaRPr lang="en-US" sz="18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320000" y="1270000"/>
            <a:ext cx="3175000" cy="3175000"/>
          </a:xfrm>
          <a:prstGeom prst="ellipse">
            <a:avLst/>
          </a:prstGeom>
          <a:solidFill>
            <a:srgbClr val="10B981">
              <a:alpha val="6275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270000" y="2286000"/>
            <a:ext cx="11049000" cy="25400"/>
          </a:xfrm>
          <a:prstGeom prst="rect">
            <a:avLst/>
          </a:prstGeom>
          <a:solidFill>
            <a:srgbClr val="10B981">
              <a:alpha val="18824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1270000" y="1016000"/>
            <a:ext cx="15240000" cy="1143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60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TF-IDF векторизация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1270000" y="2794000"/>
            <a:ext cx="508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3200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Код векторизации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1270000" y="3556000"/>
            <a:ext cx="10160000" cy="35560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7" name="Text 5"/>
          <p:cNvSpPr/>
          <p:nvPr/>
        </p:nvSpPr>
        <p:spPr>
          <a:xfrm>
            <a:off x="1651000" y="3746500"/>
            <a:ext cx="9398000" cy="317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2800"/>
              </a:lnSpc>
            </a:pPr>
            <a:r>
              <a:rPr lang="en-US" sz="1800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from</a:t>
            </a:r>
            <a:pPr algn="l">
              <a:lnSpc>
                <a:spcPts val="2800"/>
              </a:lnSpc>
            </a:pPr>
            <a:r>
              <a:rPr lang="en-US" sz="18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sklearn.feature_extraction.text </a:t>
            </a:r>
            <a:pPr algn="l">
              <a:lnSpc>
                <a:spcPts val="2800"/>
              </a:lnSpc>
            </a:pPr>
            <a:r>
              <a:rPr lang="en-US" sz="1800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import</a:t>
            </a:r>
            <a:pPr algn="l">
              <a:lnSpc>
                <a:spcPts val="2800"/>
              </a:lnSpc>
            </a:pPr>
            <a:r>
              <a:rPr lang="en-US" sz="18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TfidfVectorizer</a:t>
            </a:r>
            <a:endParaRPr lang="en-US" sz="1800" dirty="0"/>
          </a:p>
          <a:p>
            <a:pPr algn="l">
              <a:lnSpc>
                <a:spcPts val="2800"/>
              </a:lnSpc>
            </a:pPr>
            <a:r>
              <a:rPr lang="en-US" sz="18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endParaRPr lang="en-US" sz="1800" dirty="0"/>
          </a:p>
          <a:p>
            <a:pPr algn="l">
              <a:lnSpc>
                <a:spcPts val="2800"/>
              </a:lnSpc>
            </a:pPr>
            <a:r>
              <a:rPr lang="en-US" sz="18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vectorizer = TfidfVectorizer(max_features=</a:t>
            </a:r>
            <a:pPr algn="l">
              <a:lnSpc>
                <a:spcPts val="2800"/>
              </a:lnSpc>
            </a:pPr>
            <a:r>
              <a:rPr lang="en-US" sz="1800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100</a:t>
            </a:r>
            <a:pPr algn="l">
              <a:lnSpc>
                <a:spcPts val="2800"/>
              </a:lnSpc>
            </a:pPr>
            <a:r>
              <a:rPr lang="en-US" sz="18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)</a:t>
            </a:r>
            <a:endParaRPr lang="en-US" sz="1800" dirty="0"/>
          </a:p>
          <a:p>
            <a:pPr algn="l">
              <a:lnSpc>
                <a:spcPts val="2800"/>
              </a:lnSpc>
            </a:pPr>
            <a:r>
              <a:rPr lang="en-US" sz="18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tfidf_matrix = vectorizer.fit_transform(documents)</a:t>
            </a:r>
            <a:endParaRPr lang="en-US" sz="1800" dirty="0"/>
          </a:p>
          <a:p>
            <a:pPr algn="l">
              <a:lnSpc>
                <a:spcPts val="2800"/>
              </a:lnSpc>
            </a:pPr>
            <a:r>
              <a:rPr lang="en-US" sz="18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feature_names = vectorizer.get_feature_names_out()</a:t>
            </a:r>
            <a:endParaRPr lang="en-US" sz="1800" dirty="0"/>
          </a:p>
          <a:p>
            <a:pPr algn="l">
              <a:lnSpc>
                <a:spcPts val="2800"/>
              </a:lnSpc>
            </a:pPr>
            <a:r>
              <a:rPr lang="en-US" sz="18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dense = tfidf_matrix.toarray()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700000" y="2794000"/>
            <a:ext cx="635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3200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Результат — матрица 2×100</a:t>
            </a:r>
            <a:endParaRPr lang="en-US" sz="3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2700000" y="3556000"/>
          <a:ext cx="10414000" cy="3556000"/>
        </p:xfrm>
        <a:graphic>
          <a:graphicData uri="http://schemas.openxmlformats.org/drawingml/2006/table">
            <a:tbl>
              <a:tblPr/>
              <a:tblGrid>
                <a:gridCol w="2915920"/>
                <a:gridCol w="2499360"/>
                <a:gridCol w="2499360"/>
                <a:gridCol w="2499360"/>
              </a:tblGrid>
              <a:tr h="889000"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民团</a:t>
                      </a:r>
                      <a:endParaRPr lang="en-US" sz="18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土匪</a:t>
                      </a:r>
                      <a:endParaRPr lang="en-US" sz="18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读书</a:t>
                      </a:r>
                      <a:endParaRPr lang="en-US" sz="18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981"/>
                    </a:solidFill>
                  </a:tcPr>
                </a:tc>
              </a:tr>
              <a:tr h="88900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Красные копья</a:t>
                      </a:r>
                      <a:endParaRPr lang="en-US" sz="18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0.61</a:t>
                      </a:r>
                      <a:endParaRPr lang="en-US" sz="18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0.35</a:t>
                      </a:r>
                      <a:endParaRPr lang="en-US" sz="18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0.00</a:t>
                      </a:r>
                      <a:endParaRPr lang="en-US" sz="18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8900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Цинбан</a:t>
                      </a:r>
                      <a:endParaRPr lang="en-US" sz="18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0.00</a:t>
                      </a:r>
                      <a:endParaRPr lang="en-US" sz="18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0.00</a:t>
                      </a:r>
                      <a:endParaRPr lang="en-US" sz="18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0.62</a:t>
                      </a:r>
                      <a:endParaRPr lang="en-US" sz="18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1270000" y="7874000"/>
            <a:ext cx="2184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3000"/>
              </a:lnSpc>
            </a:pPr>
            <a:r>
              <a:rPr lang="en-US" sz="2000" dirty="0">
                <a:solidFill>
                  <a:srgbClr val="66666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TF-IDF (Term Frequency — Inverse Document Frequency) оценивает важность слова в документе относительно всего корпуса</a:t>
            </a:r>
            <a:endParaRPr lang="en-US" sz="20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5000" y="10160000"/>
            <a:ext cx="2540000" cy="2540000"/>
          </a:xfrm>
          <a:prstGeom prst="ellipse">
            <a:avLst/>
          </a:prstGeom>
          <a:solidFill>
            <a:srgbClr val="10B981">
              <a:alpha val="6275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270000" y="2286000"/>
            <a:ext cx="11049000" cy="25400"/>
          </a:xfrm>
          <a:prstGeom prst="rect">
            <a:avLst/>
          </a:prstGeom>
          <a:solidFill>
            <a:srgbClr val="10B981">
              <a:alpha val="18824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1270000" y="1016000"/>
            <a:ext cx="17780000" cy="1143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60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Ключевые слова — </a:t>
            </a:r>
            <a:pPr algn="l">
              <a:lnSpc>
                <a:spcPct val="120000"/>
              </a:lnSpc>
            </a:pPr>
            <a:r>
              <a:rPr lang="en-US" sz="6000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«Красные копья»</a:t>
            </a:r>
            <a:endParaRPr lang="en-US" sz="6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270000" y="2794000"/>
          <a:ext cx="11430000" cy="6096000"/>
        </p:xfrm>
        <a:graphic>
          <a:graphicData uri="http://schemas.openxmlformats.org/drawingml/2006/table">
            <a:tbl>
              <a:tblPr/>
              <a:tblGrid>
                <a:gridCol w="2286000"/>
                <a:gridCol w="2857500"/>
                <a:gridCol w="4000500"/>
                <a:gridCol w="2286000"/>
              </a:tblGrid>
              <a:tr h="676656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Слово</a:t>
                      </a:r>
                      <a:endParaRPr lang="en-US" sz="18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Пиньинь</a:t>
                      </a:r>
                      <a:endParaRPr lang="en-US" sz="18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Перевод</a:t>
                      </a:r>
                      <a:endParaRPr lang="en-US" sz="18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Вес</a:t>
                      </a:r>
                      <a:endParaRPr lang="en-US" sz="18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981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民团</a:t>
                      </a:r>
                      <a:endParaRPr lang="en-US" sz="18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míntuán</a:t>
                      </a:r>
                      <a:endParaRPr lang="en-US" sz="18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народные отряды</a:t>
                      </a:r>
                      <a:endParaRPr lang="en-US" sz="18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0.6072</a:t>
                      </a:r>
                      <a:endParaRPr lang="en-US" sz="18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土匪</a:t>
                      </a:r>
                      <a:endParaRPr lang="en-US" sz="18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tǔfěi</a:t>
                      </a:r>
                      <a:endParaRPr lang="en-US" sz="18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бандиты</a:t>
                      </a:r>
                      <a:endParaRPr lang="en-US" sz="18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0.3492</a:t>
                      </a:r>
                      <a:endParaRPr lang="en-US" sz="18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民国</a:t>
                      </a:r>
                      <a:endParaRPr lang="en-US" sz="18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mínguó</a:t>
                      </a:r>
                      <a:endParaRPr lang="en-US" sz="18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Китайская Республика</a:t>
                      </a:r>
                      <a:endParaRPr lang="en-US" sz="18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0.3453</a:t>
                      </a:r>
                      <a:endParaRPr lang="en-US" sz="18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地方</a:t>
                      </a:r>
                      <a:endParaRPr lang="en-US" sz="18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dìfāng</a:t>
                      </a:r>
                      <a:endParaRPr lang="en-US" sz="18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местный</a:t>
                      </a:r>
                      <a:endParaRPr lang="en-US" sz="18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0.2443</a:t>
                      </a:r>
                      <a:endParaRPr lang="en-US" sz="18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组织</a:t>
                      </a:r>
                      <a:endParaRPr lang="en-US" sz="18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zǔzhī</a:t>
                      </a:r>
                      <a:endParaRPr lang="en-US" sz="18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организация</a:t>
                      </a:r>
                      <a:endParaRPr lang="en-US" sz="18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0.1826</a:t>
                      </a:r>
                      <a:endParaRPr lang="en-US" sz="18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武装</a:t>
                      </a:r>
                      <a:endParaRPr lang="en-US" sz="18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wǔzhuāng</a:t>
                      </a:r>
                      <a:endParaRPr lang="en-US" sz="18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вооружение</a:t>
                      </a:r>
                      <a:endParaRPr lang="en-US" sz="18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0.1587</a:t>
                      </a:r>
                      <a:endParaRPr lang="en-US" sz="18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自卫</a:t>
                      </a:r>
                      <a:endParaRPr lang="en-US" sz="18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zìwèi</a:t>
                      </a:r>
                      <a:endParaRPr lang="en-US" sz="18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самооборона</a:t>
                      </a:r>
                      <a:endParaRPr lang="en-US" sz="18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0.1429</a:t>
                      </a:r>
                      <a:endParaRPr lang="en-US" sz="18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2752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山东</a:t>
                      </a:r>
                      <a:endParaRPr lang="en-US" sz="18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Shāndōng</a:t>
                      </a:r>
                      <a:endParaRPr lang="en-US" sz="18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Шаньдун</a:t>
                      </a:r>
                      <a:endParaRPr lang="en-US" sz="18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0.1349</a:t>
                      </a:r>
                      <a:endParaRPr lang="en-US" sz="18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13335000" y="2794000"/>
            <a:ext cx="635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3200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Интерпретация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13335000" y="3556000"/>
            <a:ext cx="9779000" cy="381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22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Ключевые слова </a:t>
            </a:r>
            <a:pPr algn="l">
              <a:lnSpc>
                <a:spcPct val="150000"/>
              </a:lnSpc>
            </a:pPr>
            <a:r>
              <a:rPr lang="en-US" sz="22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репрезентативно отражают</a:t>
            </a:r>
            <a:pPr algn="l">
              <a:lnSpc>
                <a:spcPct val="150000"/>
              </a:lnSpc>
            </a:pPr>
            <a:r>
              <a:rPr lang="en-US" sz="22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крестьянские вооружённые отряды, действовавшие в провинции Шаньдун.</a:t>
            </a:r>
            <a:endParaRPr lang="en-US" sz="2200" dirty="0"/>
          </a:p>
          <a:p>
            <a:pPr algn="l">
              <a:lnSpc>
                <a:spcPct val="150000"/>
              </a:lnSpc>
            </a:pPr>
            <a:r>
              <a:rPr lang="en-US" sz="22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endParaRPr lang="en-US" sz="2200" dirty="0"/>
          </a:p>
          <a:p>
            <a:pPr algn="l">
              <a:lnSpc>
                <a:spcPct val="150000"/>
              </a:lnSpc>
            </a:pPr>
            <a:r>
              <a:rPr lang="en-US" sz="22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Основные функции:</a:t>
            </a:r>
            <a:endParaRPr lang="en-US" sz="2200" dirty="0"/>
          </a:p>
          <a:p>
            <a:pPr algn="l">
              <a:lnSpc>
                <a:spcPct val="150000"/>
              </a:lnSpc>
            </a:pPr>
            <a:r>
              <a:rPr lang="en-US" sz="22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pPr algn="l">
              <a:lnSpc>
                <a:spcPct val="150000"/>
              </a:lnSpc>
            </a:pPr>
            <a:r>
              <a:rPr lang="en-US" sz="2200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Самооборона</a:t>
            </a:r>
            <a:pPr algn="l">
              <a:lnSpc>
                <a:spcPct val="150000"/>
              </a:lnSpc>
            </a:pPr>
            <a:r>
              <a:rPr lang="en-US" sz="22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от бандитов (自卫)</a:t>
            </a:r>
            <a:endParaRPr lang="en-US" sz="2200" dirty="0"/>
          </a:p>
          <a:p>
            <a:pPr algn="l">
              <a:lnSpc>
                <a:spcPct val="150000"/>
              </a:lnSpc>
            </a:pPr>
            <a:r>
              <a:rPr lang="en-US" sz="22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pPr algn="l">
              <a:lnSpc>
                <a:spcPct val="150000"/>
              </a:lnSpc>
            </a:pPr>
            <a:r>
              <a:rPr lang="en-US" sz="2200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Организация</a:t>
            </a:r>
            <a:pPr algn="l">
              <a:lnSpc>
                <a:spcPct val="150000"/>
              </a:lnSpc>
            </a:pPr>
            <a:r>
              <a:rPr lang="en-US" sz="22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народных отрядов (民团)</a:t>
            </a:r>
            <a:endParaRPr lang="en-US" sz="2200" dirty="0"/>
          </a:p>
          <a:p>
            <a:pPr algn="l">
              <a:lnSpc>
                <a:spcPct val="150000"/>
              </a:lnSpc>
            </a:pPr>
            <a:r>
              <a:rPr lang="en-US" sz="22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pPr algn="l">
              <a:lnSpc>
                <a:spcPct val="150000"/>
              </a:lnSpc>
            </a:pPr>
            <a:r>
              <a:rPr lang="en-US" sz="2200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Вооружённая защита</a:t>
            </a:r>
            <a:pPr algn="l">
              <a:lnSpc>
                <a:spcPct val="150000"/>
              </a:lnSpc>
            </a:pPr>
            <a:r>
              <a:rPr lang="en-US" sz="22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региона (武装)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13335000" y="7620000"/>
            <a:ext cx="9779000" cy="762000"/>
          </a:xfrm>
          <a:prstGeom prst="rect">
            <a:avLst/>
          </a:prstGeom>
          <a:solidFill>
            <a:srgbClr val="10B981">
              <a:alpha val="8235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13589000" y="7747000"/>
            <a:ext cx="9271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ts val="3000"/>
              </a:lnSpc>
            </a:pPr>
            <a:r>
              <a:rPr lang="en-US" sz="20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Регион:</a:t>
            </a:r>
            <a:pPr algn="l">
              <a:lnSpc>
                <a:spcPts val="3000"/>
              </a:lnSpc>
            </a:pPr>
            <a:r>
              <a:rPr lang="en-US" sz="20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山东 (Шаньдун)  |  </a:t>
            </a:r>
            <a:pPr algn="l">
              <a:lnSpc>
                <a:spcPts val="3000"/>
              </a:lnSpc>
            </a:pPr>
            <a:r>
              <a:rPr lang="en-US" sz="20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Период:</a:t>
            </a:r>
            <a:pPr algn="l">
              <a:lnSpc>
                <a:spcPts val="3000"/>
              </a:lnSpc>
            </a:pPr>
            <a:r>
              <a:rPr lang="en-US" sz="20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民国 (Республика)  |  </a:t>
            </a:r>
            <a:pPr algn="l">
              <a:lnSpc>
                <a:spcPts val="3000"/>
              </a:lnSpc>
            </a:pPr>
            <a:r>
              <a:rPr lang="en-US" sz="20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Функция:</a:t>
            </a:r>
            <a:pPr algn="l">
              <a:lnSpc>
                <a:spcPts val="3000"/>
              </a:lnSpc>
            </a:pPr>
            <a:r>
              <a:rPr lang="en-US" sz="20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自卫 (самооборона)</a:t>
            </a:r>
            <a:endParaRPr lang="en-US" sz="20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320000" y="1270000"/>
            <a:ext cx="3175000" cy="3175000"/>
          </a:xfrm>
          <a:prstGeom prst="ellipse">
            <a:avLst/>
          </a:prstGeom>
          <a:solidFill>
            <a:srgbClr val="10B981">
              <a:alpha val="6275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270000" y="2286000"/>
            <a:ext cx="11049000" cy="25400"/>
          </a:xfrm>
          <a:prstGeom prst="rect">
            <a:avLst/>
          </a:prstGeom>
          <a:solidFill>
            <a:srgbClr val="10B981">
              <a:alpha val="18824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1270000" y="1016000"/>
            <a:ext cx="17780000" cy="1143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60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Ключевые слова — </a:t>
            </a:r>
            <a:pPr algn="l">
              <a:lnSpc>
                <a:spcPct val="120000"/>
              </a:lnSpc>
            </a:pPr>
            <a:r>
              <a:rPr lang="en-US" sz="6000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«Цинбан»</a:t>
            </a:r>
            <a:endParaRPr lang="en-US" sz="6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270000" y="2794000"/>
          <a:ext cx="11430000" cy="5334000"/>
        </p:xfrm>
        <a:graphic>
          <a:graphicData uri="http://schemas.openxmlformats.org/drawingml/2006/table">
            <a:tbl>
              <a:tblPr/>
              <a:tblGrid>
                <a:gridCol w="2286000"/>
                <a:gridCol w="2857500"/>
                <a:gridCol w="4000500"/>
                <a:gridCol w="2286000"/>
              </a:tblGrid>
              <a:tr h="66675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Слово</a:t>
                      </a:r>
                      <a:endParaRPr lang="en-US" sz="18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Пиньинь</a:t>
                      </a:r>
                      <a:endParaRPr lang="en-US" sz="18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Перевод</a:t>
                      </a:r>
                      <a:endParaRPr lang="en-US" sz="18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Вес</a:t>
                      </a:r>
                      <a:endParaRPr lang="en-US" sz="18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981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C0504D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读书</a:t>
                      </a:r>
                      <a:endParaRPr lang="en-US" sz="18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dúshū</a:t>
                      </a:r>
                      <a:endParaRPr lang="en-US" sz="18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учиться</a:t>
                      </a:r>
                      <a:endParaRPr lang="en-US" sz="18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C0504D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0.6221</a:t>
                      </a:r>
                      <a:endParaRPr lang="en-US" sz="18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张啸林</a:t>
                      </a:r>
                      <a:endParaRPr lang="en-US" sz="18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Zhāng Xiàolín</a:t>
                      </a:r>
                      <a:endParaRPr lang="en-US" sz="18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Чжан Сяолинь</a:t>
                      </a:r>
                      <a:endParaRPr lang="en-US" sz="18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0.5554</a:t>
                      </a:r>
                      <a:endParaRPr lang="en-US" sz="18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林怀部</a:t>
                      </a:r>
                      <a:endParaRPr lang="en-US" sz="18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Lín Huáibù</a:t>
                      </a:r>
                      <a:endParaRPr lang="en-US" sz="18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Линь Хуайбу</a:t>
                      </a:r>
                      <a:endParaRPr lang="en-US" sz="18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0.3332</a:t>
                      </a:r>
                      <a:endParaRPr lang="en-US" sz="18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白城市</a:t>
                      </a:r>
                      <a:endParaRPr lang="en-US" sz="18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Báichéngshì</a:t>
                      </a:r>
                      <a:endParaRPr lang="en-US" sz="18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Байчэн</a:t>
                      </a:r>
                      <a:endParaRPr lang="en-US" sz="18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0.3332</a:t>
                      </a:r>
                      <a:endParaRPr lang="en-US" sz="18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没有</a:t>
                      </a:r>
                      <a:endParaRPr lang="en-US" sz="18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méiyǒu</a:t>
                      </a:r>
                      <a:endParaRPr lang="en-US" sz="18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нет</a:t>
                      </a:r>
                      <a:endParaRPr lang="en-US" sz="18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0.1581</a:t>
                      </a:r>
                      <a:endParaRPr lang="en-US" sz="18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一个</a:t>
                      </a:r>
                      <a:endParaRPr lang="en-US" sz="18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yīgè</a:t>
                      </a:r>
                      <a:endParaRPr lang="en-US" sz="18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один</a:t>
                      </a:r>
                      <a:endParaRPr lang="en-US" sz="18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0.1423</a:t>
                      </a:r>
                      <a:endParaRPr lang="en-US" sz="18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时间</a:t>
                      </a:r>
                      <a:endParaRPr lang="en-US" sz="18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shíjiān</a:t>
                      </a:r>
                      <a:endParaRPr lang="en-US" sz="18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время</a:t>
                      </a:r>
                      <a:endParaRPr lang="en-US" sz="18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0.1265</a:t>
                      </a:r>
                      <a:endParaRPr lang="en-US" sz="18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13335000" y="2794000"/>
            <a:ext cx="635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3200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Интерпретация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13335000" y="3556000"/>
            <a:ext cx="9779000" cy="317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2200" b="1" dirty="0">
                <a:solidFill>
                  <a:srgbClr val="C0504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Искажённый результат</a:t>
            </a:r>
            <a:pPr algn="l">
              <a:lnSpc>
                <a:spcPct val="150000"/>
              </a:lnSpc>
            </a:pPr>
            <a:r>
              <a:rPr lang="en-US" sz="22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из-за дефекта источника:</a:t>
            </a:r>
            <a:endParaRPr lang="en-US" sz="2200" dirty="0"/>
          </a:p>
          <a:p>
            <a:pPr algn="l">
              <a:lnSpc>
                <a:spcPct val="150000"/>
              </a:lnSpc>
            </a:pPr>
            <a:r>
              <a:rPr lang="en-US" sz="22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endParaRPr lang="en-US" sz="2200" dirty="0"/>
          </a:p>
          <a:p>
            <a:pPr algn="l">
              <a:lnSpc>
                <a:spcPct val="150000"/>
              </a:lnSpc>
            </a:pPr>
            <a:r>
              <a:rPr lang="en-US" sz="22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Слово </a:t>
            </a:r>
            <a:pPr algn="l">
              <a:lnSpc>
                <a:spcPct val="150000"/>
              </a:lnSpc>
            </a:pPr>
            <a:r>
              <a:rPr lang="en-US" sz="22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读书</a:t>
            </a:r>
            <a:pPr algn="l">
              <a:lnSpc>
                <a:spcPct val="150000"/>
              </a:lnSpc>
            </a:pPr>
            <a:r>
              <a:rPr lang="en-US" sz="22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получило аномально высокий вес из-за постороннего эссе о чтении</a:t>
            </a:r>
            <a:endParaRPr lang="en-US" sz="2200" dirty="0"/>
          </a:p>
          <a:p>
            <a:pPr algn="l">
              <a:lnSpc>
                <a:spcPct val="150000"/>
              </a:lnSpc>
            </a:pPr>
            <a:r>
              <a:rPr lang="en-US" sz="22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Малый объём текста (3 тыс. иероглифов)</a:t>
            </a:r>
            <a:endParaRPr lang="en-US" sz="2200" dirty="0"/>
          </a:p>
          <a:p>
            <a:pPr algn="l">
              <a:lnSpc>
                <a:spcPct val="150000"/>
              </a:lnSpc>
            </a:pPr>
            <a:r>
              <a:rPr lang="en-US" sz="22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Издательские пометы в тексте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13335000" y="7112000"/>
            <a:ext cx="9779000" cy="1016000"/>
          </a:xfrm>
          <a:prstGeom prst="rect">
            <a:avLst/>
          </a:prstGeom>
          <a:solidFill>
            <a:srgbClr val="10B981">
              <a:alpha val="8235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13589000" y="7175500"/>
            <a:ext cx="9271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ts val="3000"/>
              </a:lnSpc>
            </a:pPr>
            <a:r>
              <a:rPr lang="en-US" sz="20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Однако</a:t>
            </a:r>
            <a:pPr algn="l">
              <a:lnSpc>
                <a:spcPts val="3000"/>
              </a:lnSpc>
            </a:pPr>
            <a:r>
              <a:rPr lang="en-US" sz="20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алгоритм корректно выделил реальные имена деятелей Цинбан: 张啸林, 林怀部</a:t>
            </a:r>
            <a:endParaRPr lang="en-US" sz="20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9685000" y="7620000"/>
            <a:ext cx="3810000" cy="3810000"/>
          </a:xfrm>
          <a:prstGeom prst="ellipse">
            <a:avLst/>
          </a:prstGeom>
          <a:solidFill>
            <a:srgbClr val="10B981">
              <a:alpha val="6275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270000" y="2286000"/>
            <a:ext cx="11049000" cy="25400"/>
          </a:xfrm>
          <a:prstGeom prst="rect">
            <a:avLst/>
          </a:prstGeom>
          <a:solidFill>
            <a:srgbClr val="10B981">
              <a:alpha val="18824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1270000" y="1016000"/>
            <a:ext cx="15240000" cy="1143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60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Слова-маркеры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1270000" y="24130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ts val="3400"/>
              </a:lnSpc>
            </a:pPr>
            <a:r>
              <a:rPr lang="en-US" sz="2400" dirty="0">
                <a:solidFill>
                  <a:srgbClr val="66666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Сравнительная таблица (максимальная разница весов)</a:t>
            </a:r>
            <a:endParaRPr lang="en-US" sz="2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270000" y="3302000"/>
          <a:ext cx="15240000" cy="4826000"/>
        </p:xfrm>
        <a:graphic>
          <a:graphicData uri="http://schemas.openxmlformats.org/drawingml/2006/table">
            <a:tbl>
              <a:tblPr/>
              <a:tblGrid>
                <a:gridCol w="3810000"/>
                <a:gridCol w="3810000"/>
                <a:gridCol w="3810000"/>
                <a:gridCol w="3810000"/>
              </a:tblGrid>
              <a:tr h="805942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Слово</a:t>
                      </a:r>
                      <a:endParaRPr lang="en-US" sz="18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Красные копья</a:t>
                      </a:r>
                      <a:endParaRPr lang="en-US" sz="18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Цинбан</a:t>
                      </a:r>
                      <a:endParaRPr lang="en-US" sz="18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Разница</a:t>
                      </a:r>
                      <a:endParaRPr lang="en-US" sz="18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981"/>
                    </a:solidFill>
                  </a:tcPr>
                </a:tc>
              </a:tr>
              <a:tr h="805942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读书 (учиться)</a:t>
                      </a:r>
                      <a:endParaRPr lang="en-US" sz="18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0.0000</a:t>
                      </a:r>
                      <a:endParaRPr lang="en-US" sz="18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0.6221</a:t>
                      </a:r>
                      <a:endParaRPr lang="en-US" sz="18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10B981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0.6221</a:t>
                      </a:r>
                      <a:endParaRPr lang="en-US" sz="18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05942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民团 (нар. отряды)</a:t>
                      </a:r>
                      <a:endParaRPr lang="en-US" sz="18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0.6072</a:t>
                      </a:r>
                      <a:endParaRPr lang="en-US" sz="18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0.0000</a:t>
                      </a:r>
                      <a:endParaRPr lang="en-US" sz="18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10B981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0.6072</a:t>
                      </a:r>
                      <a:endParaRPr lang="en-US" sz="18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805942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张啸林 (Чжан Сяолинь)</a:t>
                      </a:r>
                      <a:endParaRPr lang="en-US" sz="18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0.0000</a:t>
                      </a:r>
                      <a:endParaRPr lang="en-US" sz="18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0.5554</a:t>
                      </a:r>
                      <a:endParaRPr lang="en-US" sz="18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10B981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0.5554</a:t>
                      </a:r>
                      <a:endParaRPr lang="en-US" sz="18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05942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土匪 (бандиты)</a:t>
                      </a:r>
                      <a:endParaRPr lang="en-US" sz="18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0.3492</a:t>
                      </a:r>
                      <a:endParaRPr lang="en-US" sz="18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0.0000</a:t>
                      </a:r>
                      <a:endParaRPr lang="en-US" sz="18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10B981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0.3492</a:t>
                      </a:r>
                      <a:endParaRPr lang="en-US" sz="18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79629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民国 (Республика)</a:t>
                      </a:r>
                      <a:endParaRPr lang="en-US" sz="18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0.3453</a:t>
                      </a:r>
                      <a:endParaRPr lang="en-US" sz="18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0.0000</a:t>
                      </a:r>
                      <a:endParaRPr lang="en-US" sz="18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10B981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0.3453</a:t>
                      </a:r>
                      <a:endParaRPr lang="en-US" sz="18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17145000" y="3302000"/>
            <a:ext cx="5969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3200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Что показывают маркеры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17145000" y="4064000"/>
            <a:ext cx="5969000" cy="406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22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Маркеры «Красных копий»</a:t>
            </a:r>
            <a:endParaRPr lang="en-US" sz="2200" dirty="0"/>
          </a:p>
          <a:p>
            <a:pPr algn="l">
              <a:lnSpc>
                <a:spcPct val="150000"/>
              </a:lnSpc>
            </a:pPr>
            <a:r>
              <a:rPr lang="en-US" sz="22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Слова с высоким весом в левой колонке и нулевым в правой — уникальные характеристики крестьянских отрядов</a:t>
            </a:r>
            <a:endParaRPr lang="en-US" sz="2200" dirty="0"/>
          </a:p>
          <a:p>
            <a:pPr algn="l">
              <a:lnSpc>
                <a:spcPct val="150000"/>
              </a:lnSpc>
            </a:pPr>
            <a:r>
              <a:rPr lang="en-US" sz="22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endParaRPr lang="en-US" sz="2200" dirty="0"/>
          </a:p>
          <a:p>
            <a:pPr algn="l">
              <a:lnSpc>
                <a:spcPct val="150000"/>
              </a:lnSpc>
            </a:pPr>
            <a:r>
              <a:rPr lang="en-US" sz="22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Маркеры «Цинбан»</a:t>
            </a:r>
            <a:endParaRPr lang="en-US" sz="2200" dirty="0"/>
          </a:p>
          <a:p>
            <a:pPr algn="l">
              <a:lnSpc>
                <a:spcPct val="150000"/>
              </a:lnSpc>
            </a:pPr>
            <a:r>
              <a:rPr lang="en-US" sz="22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Слова с высоким весом в правой колонке — маркеры «Зелёных банд» (здесь искажены из-за дефекта источника)</a:t>
            </a:r>
            <a:endParaRPr lang="en-US" sz="22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320000" y="1270000"/>
            <a:ext cx="3175000" cy="3175000"/>
          </a:xfrm>
          <a:prstGeom prst="ellipse">
            <a:avLst/>
          </a:prstGeom>
          <a:solidFill>
            <a:srgbClr val="10B981">
              <a:alpha val="6275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270000" y="2286000"/>
            <a:ext cx="11049000" cy="25400"/>
          </a:xfrm>
          <a:prstGeom prst="rect">
            <a:avLst/>
          </a:prstGeom>
          <a:solidFill>
            <a:srgbClr val="10B981">
              <a:alpha val="18824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1270000" y="1016000"/>
            <a:ext cx="15240000" cy="1143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60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Использованные технологии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1270000" y="2794000"/>
            <a:ext cx="508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3200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Библиотеки Python</a:t>
            </a:r>
            <a:endParaRPr lang="en-US" sz="3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270000" y="3556000"/>
          <a:ext cx="10160000" cy="4826000"/>
        </p:xfrm>
        <a:graphic>
          <a:graphicData uri="http://schemas.openxmlformats.org/drawingml/2006/table">
            <a:tbl>
              <a:tblPr/>
              <a:tblGrid>
                <a:gridCol w="3048000"/>
                <a:gridCol w="7112000"/>
              </a:tblGrid>
              <a:tr h="690118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Библиотека</a:t>
                      </a:r>
                      <a:endParaRPr lang="en-US" sz="18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Назначение</a:t>
                      </a:r>
                      <a:endParaRPr lang="en-US" sz="18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981"/>
                    </a:solidFill>
                  </a:tcPr>
                </a:tc>
              </a:tr>
              <a:tr h="690118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jieba</a:t>
                      </a:r>
                      <a:endParaRPr lang="en-US" sz="18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Сегментация китайского текста</a:t>
                      </a:r>
                      <a:endParaRPr lang="en-US" sz="18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90118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re</a:t>
                      </a:r>
                      <a:endParaRPr lang="en-US" sz="18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Очистка регулярными выражениями</a:t>
                      </a:r>
                      <a:endParaRPr lang="en-US" sz="18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690118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requests</a:t>
                      </a:r>
                      <a:endParaRPr lang="en-US" sz="18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Загрузка стоп-слов с GitHub</a:t>
                      </a:r>
                      <a:endParaRPr lang="en-US" sz="18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90118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numpy</a:t>
                      </a:r>
                      <a:endParaRPr lang="en-US" sz="18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Работа с матрицами и сортировка</a:t>
                      </a:r>
                      <a:endParaRPr lang="en-US" sz="18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690118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pandas</a:t>
                      </a:r>
                      <a:endParaRPr lang="en-US" sz="18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Форматирование таблиц</a:t>
                      </a:r>
                      <a:endParaRPr lang="en-US" sz="18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292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sklearn</a:t>
                      </a:r>
                      <a:endParaRPr lang="en-US" sz="18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TF-IDF векторизация</a:t>
                      </a:r>
                      <a:endParaRPr lang="en-US" sz="18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12700000" y="2794000"/>
            <a:ext cx="508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3200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Пайплайн анализа</a:t>
            </a:r>
            <a:endParaRPr lang="en-US" sz="3200" dirty="0"/>
          </a:p>
        </p:txBody>
      </p:sp>
      <p:sp>
        <p:nvSpPr>
          <p:cNvPr id="8" name="Shape 5"/>
          <p:cNvSpPr/>
          <p:nvPr/>
        </p:nvSpPr>
        <p:spPr>
          <a:xfrm>
            <a:off x="12700000" y="3810000"/>
            <a:ext cx="2540000" cy="6350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9" name="Text 6"/>
          <p:cNvSpPr/>
          <p:nvPr/>
        </p:nvSpPr>
        <p:spPr>
          <a:xfrm>
            <a:off x="12700000" y="3810000"/>
            <a:ext cx="254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ts val="26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Очистка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15240000" y="4064000"/>
            <a:ext cx="508000" cy="0"/>
          </a:xfrm>
          <a:prstGeom prst="straightConnector1">
            <a:avLst/>
          </a:prstGeom>
          <a:noFill/>
          <a:ln w="25400">
            <a:solidFill>
              <a:srgbClr val="10B981"/>
            </a:solidFill>
            <a:prstDash val="solid"/>
            <a:headEnd type="none"/>
            <a:tailEnd type="arrow"/>
          </a:ln>
        </p:spPr>
      </p:sp>
      <p:sp>
        <p:nvSpPr>
          <p:cNvPr id="11" name="Shape 8"/>
          <p:cNvSpPr/>
          <p:nvPr/>
        </p:nvSpPr>
        <p:spPr>
          <a:xfrm>
            <a:off x="15748000" y="3810000"/>
            <a:ext cx="2540000" cy="6350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2" name="Text 9"/>
          <p:cNvSpPr/>
          <p:nvPr/>
        </p:nvSpPr>
        <p:spPr>
          <a:xfrm>
            <a:off x="15748000" y="3810000"/>
            <a:ext cx="254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ts val="26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Сегментация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18288000" y="4064000"/>
            <a:ext cx="508000" cy="0"/>
          </a:xfrm>
          <a:prstGeom prst="straightConnector1">
            <a:avLst/>
          </a:prstGeom>
          <a:noFill/>
          <a:ln w="25400">
            <a:solidFill>
              <a:srgbClr val="10B981"/>
            </a:solidFill>
            <a:prstDash val="solid"/>
            <a:headEnd type="none"/>
            <a:tailEnd type="arrow"/>
          </a:ln>
        </p:spPr>
      </p:sp>
      <p:sp>
        <p:nvSpPr>
          <p:cNvPr id="14" name="Shape 11"/>
          <p:cNvSpPr/>
          <p:nvPr/>
        </p:nvSpPr>
        <p:spPr>
          <a:xfrm>
            <a:off x="18796000" y="3810000"/>
            <a:ext cx="2540000" cy="6350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5" name="Text 12"/>
          <p:cNvSpPr/>
          <p:nvPr/>
        </p:nvSpPr>
        <p:spPr>
          <a:xfrm>
            <a:off x="18796000" y="3810000"/>
            <a:ext cx="254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ts val="26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Стоп-слова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13970000" y="5080000"/>
            <a:ext cx="508000" cy="0"/>
          </a:xfrm>
          <a:prstGeom prst="straightConnector1">
            <a:avLst/>
          </a:prstGeom>
          <a:noFill/>
          <a:ln w="25400">
            <a:solidFill>
              <a:srgbClr val="10B981"/>
            </a:solidFill>
            <a:prstDash val="solid"/>
            <a:headEnd type="none"/>
            <a:tailEnd type="arrow"/>
          </a:ln>
        </p:spPr>
      </p:sp>
      <p:sp>
        <p:nvSpPr>
          <p:cNvPr id="17" name="Shape 14"/>
          <p:cNvSpPr/>
          <p:nvPr/>
        </p:nvSpPr>
        <p:spPr>
          <a:xfrm>
            <a:off x="14478000" y="4826000"/>
            <a:ext cx="2540000" cy="6350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8" name="Text 15"/>
          <p:cNvSpPr/>
          <p:nvPr/>
        </p:nvSpPr>
        <p:spPr>
          <a:xfrm>
            <a:off x="14478000" y="4826000"/>
            <a:ext cx="254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ts val="26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TF-IDF</a:t>
            </a:r>
            <a:endParaRPr lang="en-US" sz="1800" dirty="0"/>
          </a:p>
        </p:txBody>
      </p:sp>
      <p:sp>
        <p:nvSpPr>
          <p:cNvPr id="19" name="Shape 16"/>
          <p:cNvSpPr/>
          <p:nvPr/>
        </p:nvSpPr>
        <p:spPr>
          <a:xfrm>
            <a:off x="17018000" y="5080000"/>
            <a:ext cx="508000" cy="0"/>
          </a:xfrm>
          <a:prstGeom prst="straightConnector1">
            <a:avLst/>
          </a:prstGeom>
          <a:noFill/>
          <a:ln w="25400">
            <a:solidFill>
              <a:srgbClr val="10B981"/>
            </a:solidFill>
            <a:prstDash val="solid"/>
            <a:headEnd type="none"/>
            <a:tailEnd type="arrow"/>
          </a:ln>
        </p:spPr>
      </p:sp>
      <p:sp>
        <p:nvSpPr>
          <p:cNvPr id="20" name="Shape 17"/>
          <p:cNvSpPr/>
          <p:nvPr/>
        </p:nvSpPr>
        <p:spPr>
          <a:xfrm>
            <a:off x="17526000" y="4826000"/>
            <a:ext cx="2540000" cy="6350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1" name="Text 18"/>
          <p:cNvSpPr/>
          <p:nvPr/>
        </p:nvSpPr>
        <p:spPr>
          <a:xfrm>
            <a:off x="17526000" y="4826000"/>
            <a:ext cx="254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ts val="26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Ключевые слова</a:t>
            </a:r>
            <a:endParaRPr lang="en-US" sz="1800" dirty="0"/>
          </a:p>
        </p:txBody>
      </p:sp>
      <p:sp>
        <p:nvSpPr>
          <p:cNvPr id="22" name="Shape 19"/>
          <p:cNvSpPr/>
          <p:nvPr/>
        </p:nvSpPr>
        <p:spPr>
          <a:xfrm>
            <a:off x="15240000" y="6096000"/>
            <a:ext cx="508000" cy="0"/>
          </a:xfrm>
          <a:prstGeom prst="straightConnector1">
            <a:avLst/>
          </a:prstGeom>
          <a:noFill/>
          <a:ln w="25400">
            <a:solidFill>
              <a:srgbClr val="10B981"/>
            </a:solidFill>
            <a:prstDash val="solid"/>
            <a:headEnd type="none"/>
            <a:tailEnd type="arrow"/>
          </a:ln>
        </p:spPr>
      </p:sp>
      <p:sp>
        <p:nvSpPr>
          <p:cNvPr id="23" name="Shape 20"/>
          <p:cNvSpPr/>
          <p:nvPr/>
        </p:nvSpPr>
        <p:spPr>
          <a:xfrm>
            <a:off x="15748000" y="5842000"/>
            <a:ext cx="2540000" cy="6350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4" name="Text 21"/>
          <p:cNvSpPr/>
          <p:nvPr/>
        </p:nvSpPr>
        <p:spPr>
          <a:xfrm>
            <a:off x="15748000" y="5842000"/>
            <a:ext cx="254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ts val="26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Маркеры</a:t>
            </a:r>
            <a:endParaRPr lang="en-US" sz="1800" dirty="0"/>
          </a:p>
        </p:txBody>
      </p:sp>
      <p:sp>
        <p:nvSpPr>
          <p:cNvPr id="25" name="Shape 22"/>
          <p:cNvSpPr/>
          <p:nvPr/>
        </p:nvSpPr>
        <p:spPr>
          <a:xfrm>
            <a:off x="18288000" y="6096000"/>
            <a:ext cx="508000" cy="0"/>
          </a:xfrm>
          <a:prstGeom prst="straightConnector1">
            <a:avLst/>
          </a:prstGeom>
          <a:noFill/>
          <a:ln w="25400">
            <a:solidFill>
              <a:srgbClr val="10B981"/>
            </a:solidFill>
            <a:prstDash val="solid"/>
            <a:headEnd type="none"/>
            <a:tailEnd type="arrow"/>
          </a:ln>
        </p:spPr>
      </p:sp>
      <p:sp>
        <p:nvSpPr>
          <p:cNvPr id="26" name="Shape 23"/>
          <p:cNvSpPr/>
          <p:nvPr/>
        </p:nvSpPr>
        <p:spPr>
          <a:xfrm>
            <a:off x="18796000" y="5842000"/>
            <a:ext cx="2540000" cy="6350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7" name="Text 24"/>
          <p:cNvSpPr/>
          <p:nvPr/>
        </p:nvSpPr>
        <p:spPr>
          <a:xfrm>
            <a:off x="18796000" y="5842000"/>
            <a:ext cx="254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ts val="26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Интерпретация</a:t>
            </a:r>
            <a:endParaRPr lang="en-US" sz="18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5000" y="10160000"/>
            <a:ext cx="2540000" cy="2540000"/>
          </a:xfrm>
          <a:prstGeom prst="ellipse">
            <a:avLst/>
          </a:prstGeom>
          <a:solidFill>
            <a:srgbClr val="10B981">
              <a:alpha val="6275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270000" y="2286000"/>
            <a:ext cx="11049000" cy="25400"/>
          </a:xfrm>
          <a:prstGeom prst="rect">
            <a:avLst/>
          </a:prstGeom>
          <a:solidFill>
            <a:srgbClr val="10B981">
              <a:alpha val="18824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1270000" y="1016000"/>
            <a:ext cx="15240000" cy="1143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60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Выводы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1270000" y="2794000"/>
            <a:ext cx="1016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ts val="6000"/>
              </a:lnSpc>
            </a:pPr>
            <a:r>
              <a:rPr lang="en-US" sz="4800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2413000" y="2794000"/>
            <a:ext cx="20701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22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TF-IDF эффективно выделяет ключевые понятия</a:t>
            </a:r>
            <a:pPr algn="l">
              <a:lnSpc>
                <a:spcPct val="150000"/>
              </a:lnSpc>
            </a:pPr>
            <a:r>
              <a:rPr lang="en-US" sz="22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при условии качественных, тематически чистых источников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270000" y="4318000"/>
            <a:ext cx="1016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ts val="6000"/>
              </a:lnSpc>
            </a:pPr>
            <a:r>
              <a:rPr lang="en-US" sz="4800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2413000" y="4318000"/>
            <a:ext cx="20701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22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Для </a:t>
            </a:r>
            <a:pPr algn="l">
              <a:lnSpc>
                <a:spcPct val="150000"/>
              </a:lnSpc>
            </a:pPr>
            <a:r>
              <a:rPr lang="en-US" sz="22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«Красных копий»</a:t>
            </a:r>
            <a:pPr algn="l">
              <a:lnSpc>
                <a:spcPct val="150000"/>
              </a:lnSpc>
            </a:pPr>
            <a:r>
              <a:rPr lang="en-US" sz="22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результаты репрезентативны: выделены регион (山东), временной период (民国), функции (自卫, 剿匪)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270000" y="5842000"/>
            <a:ext cx="1016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ts val="6000"/>
              </a:lnSpc>
            </a:pPr>
            <a:r>
              <a:rPr lang="en-US" sz="4800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2413000" y="5842000"/>
            <a:ext cx="20701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22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Для </a:t>
            </a:r>
            <a:pPr algn="l">
              <a:lnSpc>
                <a:spcPct val="150000"/>
              </a:lnSpc>
            </a:pPr>
            <a:r>
              <a:rPr lang="en-US" sz="22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«Цинбан»</a:t>
            </a:r>
            <a:pPr algn="l">
              <a:lnSpc>
                <a:spcPct val="150000"/>
              </a:lnSpc>
            </a:pPr>
            <a:r>
              <a:rPr lang="en-US" sz="22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результаты искажены из-за:</a:t>
            </a:r>
            <a:endParaRPr lang="en-US" sz="2200" dirty="0"/>
          </a:p>
          <a:p>
            <a:pPr algn="l">
              <a:lnSpc>
                <a:spcPct val="150000"/>
              </a:lnSpc>
            </a:pPr>
            <a:r>
              <a:rPr lang="en-US" sz="22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малого объёма текста (3 тыс. иероглифов)  • посторонних вставок (эссе о чтении)  • издательских помет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270000" y="7747000"/>
            <a:ext cx="1016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ts val="6000"/>
              </a:lnSpc>
            </a:pPr>
            <a:r>
              <a:rPr lang="en-US" sz="4800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2413000" y="7747000"/>
            <a:ext cx="20701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22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Слова-маркеры</a:t>
            </a:r>
            <a:pPr algn="l">
              <a:lnSpc>
                <a:spcPct val="150000"/>
              </a:lnSpc>
            </a:pPr>
            <a:r>
              <a:rPr lang="en-US" sz="22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позволяют быстро выявить уникальные характеристики каждой организации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270000" y="9271000"/>
            <a:ext cx="1016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ts val="6000"/>
              </a:lnSpc>
            </a:pPr>
            <a:r>
              <a:rPr lang="en-US" sz="4800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</a:t>
            </a:r>
            <a:endParaRPr lang="en-US" sz="4800" dirty="0"/>
          </a:p>
        </p:txBody>
      </p:sp>
      <p:sp>
        <p:nvSpPr>
          <p:cNvPr id="14" name="Text 12"/>
          <p:cNvSpPr/>
          <p:nvPr/>
        </p:nvSpPr>
        <p:spPr>
          <a:xfrm>
            <a:off x="2413000" y="9271000"/>
            <a:ext cx="20701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22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Рекомендация:</a:t>
            </a:r>
            <a:pPr algn="l">
              <a:lnSpc>
                <a:spcPct val="150000"/>
              </a:lnSpc>
            </a:pPr>
            <a:r>
              <a:rPr lang="en-US" sz="22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для качественного сравнения необходимы источники сходного объёма и структуры</a:t>
            </a:r>
            <a:endParaRPr lang="en-US" sz="22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0B9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gradFill rotWithShape="1" flip="none">
            <a:gsLst>
              <a:gs pos="0">
                <a:srgbClr val="10B981">
                  <a:alpha val="0"/>
                </a:srgbClr>
              </a:gs>
              <a:gs pos="100000">
                <a:srgbClr val="1A1A1A">
                  <a:alpha val="13000"/>
                </a:srgbClr>
              </a:gs>
            </a:gsLst>
            <a:lin ang="10800000" scaled="1"/>
          </a:gradFill>
          <a:ln/>
        </p:spPr>
      </p:sp>
      <p:sp>
        <p:nvSpPr>
          <p:cNvPr id="3" name="Shape 1"/>
          <p:cNvSpPr/>
          <p:nvPr/>
        </p:nvSpPr>
        <p:spPr>
          <a:xfrm>
            <a:off x="19050000" y="8890000"/>
            <a:ext cx="4445000" cy="4445000"/>
          </a:xfrm>
          <a:prstGeom prst="ellipse">
            <a:avLst/>
          </a:prstGeom>
          <a:solidFill>
            <a:srgbClr val="FFFFFF">
              <a:alpha val="6275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1270000"/>
            <a:ext cx="2540000" cy="2540000"/>
          </a:xfrm>
          <a:prstGeom prst="ellipse">
            <a:avLst/>
          </a:prstGeom>
          <a:solidFill>
            <a:srgbClr val="FFFFFF">
              <a:alpha val="3137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2540000" y="3556000"/>
            <a:ext cx="19304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ts val="12500"/>
              </a:lnSpc>
            </a:pPr>
            <a:r>
              <a:rPr lang="en-US" sz="10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Спасибо за внимание</a:t>
            </a:r>
            <a:endParaRPr lang="en-US" sz="10000" dirty="0"/>
          </a:p>
        </p:txBody>
      </p:sp>
      <p:sp>
        <p:nvSpPr>
          <p:cNvPr id="6" name="Text 4"/>
          <p:cNvSpPr/>
          <p:nvPr/>
        </p:nvSpPr>
        <p:spPr>
          <a:xfrm>
            <a:off x="2540000" y="5842000"/>
            <a:ext cx="1930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ts val="4000"/>
              </a:lnSpc>
            </a:pPr>
            <a:r>
              <a:rPr lang="en-US" sz="2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TF-IDF анализ китайских исторических текстов: сравнительное исследование ключевых понятий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2540000" y="7112000"/>
            <a:ext cx="19304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ts val="3200"/>
              </a:lnSpc>
            </a:pPr>
            <a:r>
              <a:rPr lang="en-US" sz="2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Ляхова А.А., НИУ ВШЭ, 2026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 rot="16200000">
            <a:off x="0" y="10375900"/>
            <a:ext cx="3429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ts val="2800"/>
              </a:lnSpc>
            </a:pPr>
            <a:r>
              <a:rPr lang="en-US" sz="2000" spc="10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TF-IDF RESEARCH</a:t>
            </a:r>
            <a:endParaRPr lang="en-US" sz="20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TF-IDF анализ китайских исторических текстов</dc:title>
  <dc:subject>TF-IDF анализ китайских исторических текстов</dc:subject>
  <dc:creator>Kimi</dc:creator>
  <cp:lastModifiedBy>Kimi</cp:lastModifiedBy>
  <cp:revision>1</cp:revision>
  <dcterms:created xsi:type="dcterms:W3CDTF">2026-07-08T20:18:25Z</dcterms:created>
  <dcterms:modified xsi:type="dcterms:W3CDTF">2026-07-08T20:18:25Z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{"Label":"TF-IDF анализ китайских исторических текстов","ContentProducer":"001191110108MACG2KBH8F10000","ProduceID":"19f435c5-a012-8474-8000-0000498a4dce","ReservedCode1":"","ContentPropagator":"001191110108MACG2KBH8F20000","PropagateID":"19f43597-68e2-82cb-8000-091f927ef33c","ReservedCode2":""}</vt:lpwstr>
  </property>
</Properties>
</file>